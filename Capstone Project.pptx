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5143500" cx="9144000"/>
  <p:notesSz cx="6858000" cy="9144000"/>
  <p:embeddedFontLst>
    <p:embeddedFont>
      <p:font typeface="Montserrat"/>
      <p:regular r:id="rId15"/>
      <p:bold r:id="rId16"/>
      <p:italic r:id="rId17"/>
      <p:boldItalic r:id="rId18"/>
    </p:embeddedFont>
    <p:embeddedFont>
      <p:font typeface="Lato"/>
      <p:regular r:id="rId19"/>
      <p:bold r:id="rId20"/>
      <p:italic r:id="rId21"/>
      <p:boldItalic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Lato-bold.fntdata"/><Relationship Id="rId11" Type="http://schemas.openxmlformats.org/officeDocument/2006/relationships/slide" Target="slides/slide6.xml"/><Relationship Id="rId22" Type="http://schemas.openxmlformats.org/officeDocument/2006/relationships/font" Target="fonts/Lato-boldItalic.fntdata"/><Relationship Id="rId10" Type="http://schemas.openxmlformats.org/officeDocument/2006/relationships/slide" Target="slides/slide5.xml"/><Relationship Id="rId21" Type="http://schemas.openxmlformats.org/officeDocument/2006/relationships/font" Target="fonts/Lato-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Montserrat-regular.fntdata"/><Relationship Id="rId14" Type="http://schemas.openxmlformats.org/officeDocument/2006/relationships/slide" Target="slides/slide9.xml"/><Relationship Id="rId17" Type="http://schemas.openxmlformats.org/officeDocument/2006/relationships/font" Target="fonts/Montserrat-italic.fntdata"/><Relationship Id="rId16" Type="http://schemas.openxmlformats.org/officeDocument/2006/relationships/font" Target="fonts/Montserrat-bold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Lato-regular.fntdata"/><Relationship Id="rId6" Type="http://schemas.openxmlformats.org/officeDocument/2006/relationships/slide" Target="slides/slide1.xml"/><Relationship Id="rId18" Type="http://schemas.openxmlformats.org/officeDocument/2006/relationships/font" Target="fonts/Montserrat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ae541425bf_0_1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ae541425bf_0_1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ae541425bf_0_1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3ae541425bf_0_1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ae541425bf_0_1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3ae541425bf_0_1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ae541425bf_0_1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3ae541425bf_0_1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ae541425bf_0_1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ae541425bf_0_1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ae541425bf_0_1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3ae541425bf_0_1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ae541425bf_0_1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3ae541425bf_0_1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ae541425bf_0_1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3ae541425bf_0_1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5400000">
            <a:off x="7500300" y="505"/>
            <a:ext cx="1643700" cy="1643700"/>
          </a:xfrm>
          <a:prstGeom prst="diagStripe">
            <a:avLst>
              <a:gd fmla="val 0" name="adj"/>
            </a:avLst>
          </a:prstGeom>
          <a:solidFill>
            <a:schemeClr val="lt1">
              <a:alpha val="303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0" y="490"/>
            <a:ext cx="5153705" cy="5134399"/>
            <a:chOff x="0" y="75"/>
            <a:chExt cx="5153705" cy="515295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455" y="-225"/>
              <a:ext cx="5152800" cy="51537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150" y="1145825"/>
              <a:ext cx="3996600" cy="3996900"/>
            </a:xfrm>
            <a:prstGeom prst="diagStripe">
              <a:avLst>
                <a:gd fmla="val 58774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-5400000">
              <a:off x="1646" y="-75"/>
              <a:ext cx="2299800" cy="23001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flipH="1">
              <a:off x="652821" y="590035"/>
              <a:ext cx="2300100" cy="2299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21" name="Google Shape;21;p3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" name="Google Shape;38;p3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9" name="Google Shape;39;p3"/>
          <p:cNvSpPr txBox="1"/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" name="Google Shape;40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oogle Shape;42;p4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43" name="Google Shape;43;p4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4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6" name="Google Shape;46;p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7" name="Google Shape;47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oogle Shape;49;p5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0" name="Google Shape;50;p5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5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3" name="Google Shape;53;p5"/>
          <p:cNvSpPr txBox="1"/>
          <p:nvPr>
            <p:ph idx="1" type="body"/>
          </p:nvPr>
        </p:nvSpPr>
        <p:spPr>
          <a:xfrm>
            <a:off x="1297500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5"/>
          <p:cNvSpPr txBox="1"/>
          <p:nvPr>
            <p:ph idx="2" type="body"/>
          </p:nvPr>
        </p:nvSpPr>
        <p:spPr>
          <a:xfrm>
            <a:off x="4933221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" name="Google Shape;5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p6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8" name="Google Shape;58;p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0" name="Google Shape;60;p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1" name="Google Shape;61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7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64" name="Google Shape;64;p7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7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7"/>
          <p:cNvSpPr txBox="1"/>
          <p:nvPr>
            <p:ph type="title"/>
          </p:nvPr>
        </p:nvSpPr>
        <p:spPr>
          <a:xfrm>
            <a:off x="1297500" y="393750"/>
            <a:ext cx="3798900" cy="149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7" name="Google Shape;67;p7"/>
          <p:cNvSpPr txBox="1"/>
          <p:nvPr>
            <p:ph idx="1" type="body"/>
          </p:nvPr>
        </p:nvSpPr>
        <p:spPr>
          <a:xfrm>
            <a:off x="1297500" y="1972550"/>
            <a:ext cx="3798900" cy="241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8" name="Google Shape;6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8"/>
          <p:cNvGrpSpPr/>
          <p:nvPr/>
        </p:nvGrpSpPr>
        <p:grpSpPr>
          <a:xfrm>
            <a:off x="4406400" y="0"/>
            <a:ext cx="4737600" cy="5143500"/>
            <a:chOff x="4406400" y="0"/>
            <a:chExt cx="4737600" cy="5143500"/>
          </a:xfrm>
        </p:grpSpPr>
        <p:sp>
          <p:nvSpPr>
            <p:cNvPr id="71" name="Google Shape;71;p8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8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8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8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8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8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8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8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8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8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8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8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8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8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9" name="Google Shape;89;p8"/>
          <p:cNvSpPr txBox="1"/>
          <p:nvPr>
            <p:ph type="title"/>
          </p:nvPr>
        </p:nvSpPr>
        <p:spPr>
          <a:xfrm>
            <a:off x="823850" y="866775"/>
            <a:ext cx="4587000" cy="352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0" name="Google Shape;9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9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93" name="Google Shape;93;p9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9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9"/>
          <p:cNvSpPr txBox="1"/>
          <p:nvPr>
            <p:ph type="title"/>
          </p:nvPr>
        </p:nvSpPr>
        <p:spPr>
          <a:xfrm>
            <a:off x="1297500" y="1658325"/>
            <a:ext cx="3036300" cy="175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6" name="Google Shape;96;p9"/>
          <p:cNvSpPr txBox="1"/>
          <p:nvPr>
            <p:ph idx="1" type="subTitle"/>
          </p:nvPr>
        </p:nvSpPr>
        <p:spPr>
          <a:xfrm>
            <a:off x="1297500" y="3538000"/>
            <a:ext cx="30363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97" name="Google Shape;97;p9"/>
          <p:cNvSpPr txBox="1"/>
          <p:nvPr>
            <p:ph idx="2" type="body"/>
          </p:nvPr>
        </p:nvSpPr>
        <p:spPr>
          <a:xfrm>
            <a:off x="4648200" y="1696600"/>
            <a:ext cx="3676800" cy="234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10"/>
          <p:cNvGrpSpPr/>
          <p:nvPr/>
        </p:nvGrpSpPr>
        <p:grpSpPr>
          <a:xfrm>
            <a:off x="0" y="4128572"/>
            <a:ext cx="698925" cy="684657"/>
            <a:chOff x="0" y="3785672"/>
            <a:chExt cx="698925" cy="684657"/>
          </a:xfrm>
        </p:grpSpPr>
        <p:sp>
          <p:nvSpPr>
            <p:cNvPr id="101" name="Google Shape;101;p10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10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10"/>
          <p:cNvSpPr txBox="1"/>
          <p:nvPr>
            <p:ph idx="1" type="body"/>
          </p:nvPr>
        </p:nvSpPr>
        <p:spPr>
          <a:xfrm>
            <a:off x="812725" y="4305375"/>
            <a:ext cx="6936000" cy="52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4" name="Google Shape;10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11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07" name="Google Shape;107;p11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11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11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11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11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11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11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11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11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11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11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11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11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11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5" name="Google Shape;125;p11"/>
          <p:cNvSpPr txBox="1"/>
          <p:nvPr>
            <p:ph hasCustomPrompt="1" type="title"/>
          </p:nvPr>
        </p:nvSpPr>
        <p:spPr>
          <a:xfrm>
            <a:off x="823850" y="1284675"/>
            <a:ext cx="47760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26" name="Google Shape;126;p11"/>
          <p:cNvSpPr txBox="1"/>
          <p:nvPr>
            <p:ph idx="1" type="body"/>
          </p:nvPr>
        </p:nvSpPr>
        <p:spPr>
          <a:xfrm>
            <a:off x="823850" y="2643124"/>
            <a:ext cx="4776000" cy="121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7" name="Google Shape;12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focus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3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2000"/>
              <a:t>What is the age distribution of tech workers, and is there evidence of age discrimination in compensation?</a:t>
            </a:r>
            <a:endParaRPr b="1" sz="1500"/>
          </a:p>
        </p:txBody>
      </p:sp>
      <p:sp>
        <p:nvSpPr>
          <p:cNvPr id="135" name="Google Shape;135;p13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By: Darius, Hunter, Kevin, and Amarr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Business Context: Why This Matters</a:t>
            </a:r>
            <a:endParaRPr/>
          </a:p>
        </p:txBody>
      </p:sp>
      <p:sp>
        <p:nvSpPr>
          <p:cNvPr id="141" name="Google Shape;141;p14"/>
          <p:cNvSpPr txBox="1"/>
          <p:nvPr>
            <p:ph idx="1" type="body"/>
          </p:nvPr>
        </p:nvSpPr>
        <p:spPr>
          <a:xfrm>
            <a:off x="478825" y="1407375"/>
            <a:ext cx="59907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10000"/>
          </a:bodyPr>
          <a:lstStyle/>
          <a:p>
            <a:pPr indent="-298767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Tech firms depend on a highly skilled workforce  which makes compensation and talent pipelines  important.</a:t>
            </a:r>
            <a:endParaRPr/>
          </a:p>
          <a:p>
            <a:pPr indent="-298767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Due to rapid change in technology,, </a:t>
            </a:r>
            <a:r>
              <a:rPr lang="en"/>
              <a:t>companies often are pushed to prioritize younger workers for speed and adaptability.</a:t>
            </a:r>
            <a:endParaRPr/>
          </a:p>
          <a:p>
            <a:pPr indent="-298767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This raises concerns about potential age bias in hiring, pay, and promotion.</a:t>
            </a:r>
            <a:endParaRPr/>
          </a:p>
          <a:p>
            <a:pPr indent="-298767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Organizations with equitable practices gain access to a broader pool of experienced talent, improving innovation and stability.</a:t>
            </a:r>
            <a:endParaRPr/>
          </a:p>
          <a:p>
            <a:pPr indent="-298767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The research supports leaders in making data-driven decisions about HR policy, hiring, and promotion systems.</a:t>
            </a:r>
            <a:endParaRPr/>
          </a:p>
        </p:txBody>
      </p:sp>
      <p:pic>
        <p:nvPicPr>
          <p:cNvPr descr="Creative artificial Intelligence concept with human brain hologram and hands typing on laptop on background. Multiexposure (Provided by Getty Images)" id="142" name="Google Shape;142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98375" y="1040150"/>
            <a:ext cx="2845624" cy="3097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Overview</a:t>
            </a:r>
            <a:endParaRPr/>
          </a:p>
        </p:txBody>
      </p:sp>
      <p:sp>
        <p:nvSpPr>
          <p:cNvPr id="148" name="Google Shape;148;p15"/>
          <p:cNvSpPr txBox="1"/>
          <p:nvPr>
            <p:ph idx="1" type="body"/>
          </p:nvPr>
        </p:nvSpPr>
        <p:spPr>
          <a:xfrm>
            <a:off x="972475" y="1434075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10000"/>
          </a:bodyPr>
          <a:lstStyle/>
          <a:p>
            <a:pPr indent="-298767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Data Source: Survey of full-time U.S. tech employees.</a:t>
            </a:r>
            <a:endParaRPr/>
          </a:p>
          <a:p>
            <a:pPr indent="-298767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Sample Includes:</a:t>
            </a:r>
            <a:endParaRPr/>
          </a:p>
          <a:p>
            <a:pPr indent="-287972" lvl="1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Age group (binned ranges)</a:t>
            </a:r>
            <a:endParaRPr/>
          </a:p>
          <a:p>
            <a:pPr indent="-287972" lvl="1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Annual salary (rounded; unrealistic values removed)</a:t>
            </a:r>
            <a:endParaRPr/>
          </a:p>
          <a:p>
            <a:pPr indent="-287972" lvl="1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Years of experience (binned)</a:t>
            </a:r>
            <a:endParaRPr/>
          </a:p>
          <a:p>
            <a:pPr indent="-287972" lvl="1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Field of work (software engineering, data, support, etc.)</a:t>
            </a:r>
            <a:endParaRPr/>
          </a:p>
          <a:p>
            <a:pPr indent="-298767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Key Variables:</a:t>
            </a:r>
            <a:endParaRPr/>
          </a:p>
          <a:p>
            <a:pPr indent="-287972" lvl="1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Dependent: Salary</a:t>
            </a:r>
            <a:endParaRPr/>
          </a:p>
          <a:p>
            <a:pPr indent="-287972" lvl="1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Independent: Age (also controlling for experience)</a:t>
            </a:r>
            <a:endParaRPr/>
          </a:p>
          <a:p>
            <a:pPr indent="-287972" lvl="1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Methods: Cleaning, binning, visualizing with Python/pandas/matplotlib.</a:t>
            </a:r>
            <a:endParaRPr/>
          </a:p>
        </p:txBody>
      </p:sp>
      <p:pic>
        <p:nvPicPr>
          <p:cNvPr descr="Sharing ideas. (Provided by Getty Images)" id="149" name="Google Shape;149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42225" y="1307850"/>
            <a:ext cx="3488425" cy="27383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Age Distribution</a:t>
            </a:r>
            <a:endParaRPr/>
          </a:p>
        </p:txBody>
      </p:sp>
      <p:sp>
        <p:nvSpPr>
          <p:cNvPr id="155" name="Google Shape;155;p16"/>
          <p:cNvSpPr txBox="1"/>
          <p:nvPr>
            <p:ph idx="1" type="body"/>
          </p:nvPr>
        </p:nvSpPr>
        <p:spPr>
          <a:xfrm>
            <a:off x="843625" y="37477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Tech workforce is heavily concentrated in the 25–34 and 35–44 groups.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Under 25 and 55+ groups are much smaller.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Industry is predominantly under 45.</a:t>
            </a:r>
            <a:endParaRPr/>
          </a:p>
        </p:txBody>
      </p:sp>
      <p:pic>
        <p:nvPicPr>
          <p:cNvPr id="156" name="Google Shape;156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39050" y="1024725"/>
            <a:ext cx="7252500" cy="27230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7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Compensation by Age</a:t>
            </a:r>
            <a:endParaRPr/>
          </a:p>
        </p:txBody>
      </p:sp>
      <p:sp>
        <p:nvSpPr>
          <p:cNvPr id="162" name="Google Shape;162;p17"/>
          <p:cNvSpPr txBox="1"/>
          <p:nvPr>
            <p:ph idx="1" type="body"/>
          </p:nvPr>
        </p:nvSpPr>
        <p:spPr>
          <a:xfrm>
            <a:off x="852550" y="3267225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45–54 has highest mean salary (~$180k).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35–44 follows closely.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18–24 group has the lowest average salary (~$95k).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Raises questions about the degree to which increases reflect experience vs. structural pay differences.</a:t>
            </a:r>
            <a:endParaRPr/>
          </a:p>
        </p:txBody>
      </p:sp>
      <p:pic>
        <p:nvPicPr>
          <p:cNvPr id="163" name="Google Shape;163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64025" y="925475"/>
            <a:ext cx="7038900" cy="23417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8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Statistical Results</a:t>
            </a:r>
            <a:endParaRPr/>
          </a:p>
        </p:txBody>
      </p:sp>
      <p:sp>
        <p:nvSpPr>
          <p:cNvPr id="169" name="Google Shape;169;p18"/>
          <p:cNvSpPr txBox="1"/>
          <p:nvPr>
            <p:ph idx="1" type="body"/>
          </p:nvPr>
        </p:nvSpPr>
        <p:spPr>
          <a:xfrm>
            <a:off x="902350" y="151360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Salary increases with age → consistent with experience accumulation.</a:t>
            </a:r>
            <a:endParaRPr/>
          </a:p>
          <a:p>
            <a:pPr indent="-3111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After controlling for experience:</a:t>
            </a:r>
            <a:endParaRPr/>
          </a:p>
          <a:p>
            <a:pPr indent="-298450" lvl="1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Workers 40+ consistently earn more than younger counterparts.</a:t>
            </a:r>
            <a:endParaRPr/>
          </a:p>
          <a:p>
            <a:pPr indent="-298450" lvl="1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Gap is widest among less-experienced and mid-career employees.</a:t>
            </a:r>
            <a:endParaRPr/>
          </a:p>
          <a:p>
            <a:pPr indent="-298450" lvl="1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Gap narrows only for the most experienced groups.</a:t>
            </a:r>
            <a:endParaRPr/>
          </a:p>
          <a:p>
            <a:pPr indent="-3111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Indicates age-linked pay disparities not fully explained by experience.</a:t>
            </a:r>
            <a:endParaRPr/>
          </a:p>
        </p:txBody>
      </p:sp>
      <p:pic>
        <p:nvPicPr>
          <p:cNvPr descr="Money (Provided by Getty Images)" id="170" name="Google Shape;170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80800" y="994400"/>
            <a:ext cx="2609976" cy="36690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9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Interpretation</a:t>
            </a:r>
            <a:endParaRPr/>
          </a:p>
        </p:txBody>
      </p:sp>
      <p:sp>
        <p:nvSpPr>
          <p:cNvPr id="176" name="Google Shape;176;p19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20000"/>
          </a:bodyPr>
          <a:lstStyle/>
          <a:p>
            <a:pPr indent="-292576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The t</a:t>
            </a:r>
            <a:r>
              <a:rPr lang="en"/>
              <a:t>ech workforce is heavily concentrated with employees under age 45, with very  limited representation among workers 55+.</a:t>
            </a:r>
            <a:endParaRPr/>
          </a:p>
          <a:p>
            <a:pPr indent="-292576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Salary rises with age as expected, but the gaps between younger and mid-career groups are large enough to where experience alone can’t be the only aspect for pay inequity.</a:t>
            </a:r>
            <a:endParaRPr/>
          </a:p>
          <a:p>
            <a:pPr indent="-292576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Younger workers start with a  disadvantage with  lower starting salary bands, while the older (experienced) workers may face reduced mobility or bias in hiring.</a:t>
            </a:r>
            <a:endParaRPr/>
          </a:p>
          <a:p>
            <a:pPr indent="-292576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These patterns suggest that inequities in pay, promotion, and access to higher-level roles based on age are present in the tech community. </a:t>
            </a:r>
            <a:endParaRPr/>
          </a:p>
          <a:p>
            <a:pPr indent="-292576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Overall</a:t>
            </a:r>
            <a:r>
              <a:rPr lang="en"/>
              <a:t>, the results show that the tech community  is getting younger due to the new innovations  and that pay differences are still a problem that has to be addressed by organizations.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0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Industry </a:t>
            </a:r>
            <a:r>
              <a:rPr lang="en"/>
              <a:t>Recommendations</a:t>
            </a:r>
            <a:endParaRPr/>
          </a:p>
        </p:txBody>
      </p:sp>
      <p:sp>
        <p:nvSpPr>
          <p:cNvPr id="182" name="Google Shape;182;p20"/>
          <p:cNvSpPr txBox="1"/>
          <p:nvPr>
            <p:ph idx="1" type="body"/>
          </p:nvPr>
        </p:nvSpPr>
        <p:spPr>
          <a:xfrm>
            <a:off x="852575" y="1487475"/>
            <a:ext cx="55824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 Establish salary transparency and disclose ranges.</a:t>
            </a:r>
            <a:endParaRPr/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Conduct annual internal salary reviews with an equity assessment by age.</a:t>
            </a:r>
            <a:endParaRPr/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Investigate employment patterns to determine if an average age difference exists.</a:t>
            </a:r>
            <a:endParaRPr/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Promote </a:t>
            </a:r>
            <a:r>
              <a:rPr lang="en"/>
              <a:t> advancement </a:t>
            </a:r>
            <a:r>
              <a:rPr lang="en"/>
              <a:t>criteria related</a:t>
            </a:r>
            <a:r>
              <a:rPr lang="en"/>
              <a:t> to performance (not age) to distinguish elevated criteria.</a:t>
            </a:r>
            <a:endParaRPr/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Expand hiring practices to older generations to create a more diversified workforce.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descr="Innovation Technology for Business Finance Concept (Provided by Getty Images)" id="183" name="Google Shape;183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35100" y="834400"/>
            <a:ext cx="2708900" cy="3564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1"/>
          <p:cNvSpPr txBox="1"/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Questions ??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